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Inter" panose="02000503000000020004" pitchFamily="2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3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6736" y="910742"/>
            <a:ext cx="12070080" cy="427939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9600" spc="-6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0061" y="5346744"/>
            <a:ext cx="12070080" cy="13716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880" cap="all" spc="240" baseline="0">
                <a:solidFill>
                  <a:schemeClr val="tx2"/>
                </a:solidFill>
                <a:latin typeface="+mj-lt"/>
              </a:defRPr>
            </a:lvl1pPr>
            <a:lvl2pPr marL="548640" indent="0" algn="ctr">
              <a:buNone/>
              <a:defRPr sz="2880"/>
            </a:lvl2pPr>
            <a:lvl3pPr marL="1097280" indent="0" algn="ctr">
              <a:buNone/>
              <a:defRPr sz="2880"/>
            </a:lvl3pPr>
            <a:lvl4pPr marL="1645920" indent="0" algn="ctr">
              <a:buNone/>
              <a:defRPr sz="2400"/>
            </a:lvl4pPr>
            <a:lvl5pPr marL="2194560" indent="0" algn="ctr">
              <a:buNone/>
              <a:defRPr sz="2400"/>
            </a:lvl5pPr>
            <a:lvl6pPr marL="2743200" indent="0" algn="ctr">
              <a:buNone/>
              <a:defRPr sz="2400"/>
            </a:lvl6pPr>
            <a:lvl7pPr marL="3291840" indent="0" algn="ctr">
              <a:buNone/>
              <a:defRPr sz="2400"/>
            </a:lvl7pPr>
            <a:lvl8pPr marL="3840480" indent="0" algn="ctr">
              <a:buNone/>
              <a:defRPr sz="2400"/>
            </a:lvl8pPr>
            <a:lvl9pPr marL="438912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49190" y="5212080"/>
            <a:ext cx="1185062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3383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752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736" y="910742"/>
            <a:ext cx="12070080" cy="4279392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9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5343754"/>
            <a:ext cx="12070080" cy="13716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880" cap="all" spc="240" baseline="0">
                <a:solidFill>
                  <a:schemeClr val="tx2"/>
                </a:solidFill>
                <a:latin typeface="+mj-lt"/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49190" y="5212080"/>
            <a:ext cx="1185062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4675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6735" y="2214881"/>
            <a:ext cx="5925312" cy="482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1504" y="2214882"/>
            <a:ext cx="5925312" cy="482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4727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2215263"/>
            <a:ext cx="5925312" cy="88353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2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16736" y="3098801"/>
            <a:ext cx="5925312" cy="4053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61504" y="2215263"/>
            <a:ext cx="5925312" cy="88353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2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61504" y="3098801"/>
            <a:ext cx="5925312" cy="4053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8315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6957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356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" y="0"/>
            <a:ext cx="4860949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848085" y="0"/>
            <a:ext cx="76810" cy="822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1"/>
            <a:ext cx="3840480" cy="2743200"/>
          </a:xfrm>
        </p:spPr>
        <p:txBody>
          <a:bodyPr anchor="b">
            <a:normAutofit/>
          </a:bodyPr>
          <a:lstStyle>
            <a:lvl1pPr>
              <a:defRPr sz="43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0" y="877824"/>
            <a:ext cx="7790688" cy="6309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3511296"/>
            <a:ext cx="3840480" cy="405494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8614" y="7751743"/>
            <a:ext cx="3142212" cy="438150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60720" y="7751743"/>
            <a:ext cx="5577840" cy="43815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5902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943600"/>
            <a:ext cx="1462659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9" y="5898091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736" y="6089904"/>
            <a:ext cx="12135917" cy="987552"/>
          </a:xfrm>
        </p:spPr>
        <p:txBody>
          <a:bodyPr lIns="91440" tIns="0" rIns="91440" bIns="0" anchor="b">
            <a:noAutofit/>
          </a:bodyPr>
          <a:lstStyle>
            <a:lvl1pPr>
              <a:defRPr sz="43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" y="0"/>
            <a:ext cx="14630382" cy="5898091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840">
                <a:solidFill>
                  <a:schemeClr val="bg1"/>
                </a:solidFill>
              </a:defRPr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6736" y="7088428"/>
            <a:ext cx="12135917" cy="71323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720"/>
              </a:spcAft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690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8824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97734"/>
            <a:ext cx="3154680" cy="69089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97734"/>
            <a:ext cx="9281160" cy="6908906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1842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991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892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7896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053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944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8501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2364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2170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87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539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80960"/>
            <a:ext cx="1463040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7601179"/>
            <a:ext cx="14630401" cy="79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2214881"/>
            <a:ext cx="12070080" cy="482803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16737" y="7751743"/>
            <a:ext cx="29667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3422" y="7751743"/>
            <a:ext cx="578736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80550" y="7751743"/>
            <a:ext cx="157443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432238" y="2085414"/>
            <a:ext cx="1196035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57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85000"/>
        </a:lnSpc>
        <a:spcBef>
          <a:spcPct val="0"/>
        </a:spcBef>
        <a:buNone/>
        <a:defRPr sz="5760" kern="1200" spc="-6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1097280" rtl="0" eaLnBrk="1" latinLnBrk="0" hangingPunct="1">
        <a:lnSpc>
          <a:spcPct val="90000"/>
        </a:lnSpc>
        <a:spcBef>
          <a:spcPts val="1440"/>
        </a:spcBef>
        <a:spcAft>
          <a:spcPts val="24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60858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0314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99770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119226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32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56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80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04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Ping P</a:t>
            </a:r>
            <a:r>
              <a:rPr lang="en-US" sz="4450" b="1"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 Game Development in C (SDL)</a:t>
            </a:r>
            <a:endParaRPr sz="4450" b="0" i="0" u="none" strike="noStrike" cap="none"/>
          </a:p>
        </p:txBody>
      </p:sp>
      <p:sp>
        <p:nvSpPr>
          <p:cNvPr id="58" name="Google Shape;58;p13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Mini project: a real-time 2-player Pong clone implemented in C using SDL for graphics and input. Clean, technical walkthrough for CS students — design, code, rendering, and collision mechanics.</a:t>
            </a:r>
            <a:endParaRPr sz="1750" b="0" i="0" u="none" strike="noStrike" cap="non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F2780C-A83C-EF4E-0EB5-7FD5054BC098}"/>
              </a:ext>
            </a:extLst>
          </p:cNvPr>
          <p:cNvSpPr/>
          <p:nvPr/>
        </p:nvSpPr>
        <p:spPr>
          <a:xfrm>
            <a:off x="12625330" y="7667740"/>
            <a:ext cx="2005070" cy="561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6280190" y="1367076"/>
            <a:ext cx="5903476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Inter"/>
              <a:buNone/>
            </a:pPr>
            <a:r>
              <a:rPr lang="en-US" sz="35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Introduction &amp; Background</a:t>
            </a:r>
            <a:endParaRPr sz="3550" b="0" i="0" u="none" strike="noStrike" cap="none"/>
          </a:p>
        </p:txBody>
      </p:sp>
      <p:sp>
        <p:nvSpPr>
          <p:cNvPr id="66" name="Google Shape;66;p14"/>
          <p:cNvSpPr/>
          <p:nvPr/>
        </p:nvSpPr>
        <p:spPr>
          <a:xfrm>
            <a:off x="6280190" y="2274213"/>
            <a:ext cx="2367558" cy="4588312"/>
          </a:xfrm>
          <a:prstGeom prst="roundRect">
            <a:avLst>
              <a:gd name="adj" fmla="val 4024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6514624" y="2508647"/>
            <a:ext cx="1898690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Inspiration</a:t>
            </a:r>
            <a:endParaRPr sz="2200" b="0" i="0" u="none" strike="noStrike" cap="none"/>
          </a:p>
        </p:txBody>
      </p:sp>
      <p:sp>
        <p:nvSpPr>
          <p:cNvPr id="68" name="Google Shape;68;p14"/>
          <p:cNvSpPr/>
          <p:nvPr/>
        </p:nvSpPr>
        <p:spPr>
          <a:xfrm>
            <a:off x="6514624" y="2999065"/>
            <a:ext cx="1898690" cy="254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Classic Pong (1970s): minimal rules and strong interaction loop — ideal for learning real-time systems.</a:t>
            </a:r>
            <a:endParaRPr sz="1750" b="0" i="0" u="none" strike="noStrike" cap="none"/>
          </a:p>
        </p:txBody>
      </p:sp>
      <p:sp>
        <p:nvSpPr>
          <p:cNvPr id="69" name="Google Shape;69;p14"/>
          <p:cNvSpPr/>
          <p:nvPr/>
        </p:nvSpPr>
        <p:spPr>
          <a:xfrm>
            <a:off x="8874562" y="2274213"/>
            <a:ext cx="2367558" cy="4588312"/>
          </a:xfrm>
          <a:prstGeom prst="roundRect">
            <a:avLst>
              <a:gd name="adj" fmla="val 4024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9108996" y="2508647"/>
            <a:ext cx="1898690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Project Goal</a:t>
            </a:r>
            <a:endParaRPr sz="2200" b="0" i="0" u="none" strike="noStrike" cap="none"/>
          </a:p>
        </p:txBody>
      </p:sp>
      <p:sp>
        <p:nvSpPr>
          <p:cNvPr id="71" name="Google Shape;71;p14"/>
          <p:cNvSpPr/>
          <p:nvPr/>
        </p:nvSpPr>
        <p:spPr>
          <a:xfrm>
            <a:off x="9108996" y="2999065"/>
            <a:ext cx="1898690" cy="362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Build a responsive 2D table-tennis simulation that demonstrates rendering, input handling and collision detection in C with SDL.</a:t>
            </a:r>
            <a:endParaRPr sz="1750" b="0" i="0" u="none" strike="noStrike" cap="none"/>
          </a:p>
        </p:txBody>
      </p:sp>
      <p:sp>
        <p:nvSpPr>
          <p:cNvPr id="72" name="Google Shape;72;p14"/>
          <p:cNvSpPr/>
          <p:nvPr/>
        </p:nvSpPr>
        <p:spPr>
          <a:xfrm>
            <a:off x="11468933" y="2274213"/>
            <a:ext cx="2367558" cy="4588312"/>
          </a:xfrm>
          <a:prstGeom prst="roundRect">
            <a:avLst>
              <a:gd name="adj" fmla="val 4024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11703368" y="2508647"/>
            <a:ext cx="1898690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Learning Focus</a:t>
            </a:r>
            <a:endParaRPr sz="2200" b="0" i="0" u="none" strike="noStrike" cap="none"/>
          </a:p>
        </p:txBody>
      </p:sp>
      <p:sp>
        <p:nvSpPr>
          <p:cNvPr id="74" name="Google Shape;74;p14"/>
          <p:cNvSpPr/>
          <p:nvPr/>
        </p:nvSpPr>
        <p:spPr>
          <a:xfrm>
            <a:off x="11703368" y="3353395"/>
            <a:ext cx="1898690" cy="217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Animation timing, event-driven input, simple physics, and structured C program design.</a:t>
            </a:r>
            <a:endParaRPr sz="1750" b="0" i="0" u="none" strike="noStrike" cap="non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02D3BE-4BF5-050A-7816-8757CB135849}"/>
              </a:ext>
            </a:extLst>
          </p:cNvPr>
          <p:cNvSpPr/>
          <p:nvPr/>
        </p:nvSpPr>
        <p:spPr>
          <a:xfrm>
            <a:off x="12625330" y="7667740"/>
            <a:ext cx="2005070" cy="561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1311354"/>
            <a:ext cx="4205168" cy="560689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/>
          <p:nvPr/>
        </p:nvSpPr>
        <p:spPr>
          <a:xfrm>
            <a:off x="5559981" y="2584013"/>
            <a:ext cx="5441990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Inter"/>
              <a:buNone/>
            </a:pPr>
            <a:r>
              <a:rPr lang="en-US" sz="35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Technologies &amp; Libraries</a:t>
            </a:r>
            <a:endParaRPr sz="3550" b="0" i="0" u="none" strike="noStrike" cap="none"/>
          </a:p>
        </p:txBody>
      </p:sp>
      <p:sp>
        <p:nvSpPr>
          <p:cNvPr id="82" name="Google Shape;82;p15"/>
          <p:cNvSpPr/>
          <p:nvPr/>
        </p:nvSpPr>
        <p:spPr>
          <a:xfrm>
            <a:off x="5559981" y="3377803"/>
            <a:ext cx="8284131" cy="2415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 (ISO C):</a:t>
            </a: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core game logic, structs for entities, manual memory &amp; state management.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SDL2:</a:t>
            </a: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windowing, renderer, texture-less immediate mode drawing and event system.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Build tools:</a:t>
            </a: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gcc/clang, makefile for compilation and linking with -lSDL2.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Testing:</a:t>
            </a: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iterative runs, debug logging, frame-timing checks.</a:t>
            </a:r>
            <a:endParaRPr sz="1750" b="0" i="0" u="none" strike="noStrike" cap="non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275FAE-825F-5484-3F4D-9E8930AACD23}"/>
              </a:ext>
            </a:extLst>
          </p:cNvPr>
          <p:cNvSpPr/>
          <p:nvPr/>
        </p:nvSpPr>
        <p:spPr>
          <a:xfrm>
            <a:off x="12625330" y="7667740"/>
            <a:ext cx="2005070" cy="561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793790" y="2451973"/>
            <a:ext cx="7928491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Inter"/>
              <a:buNone/>
            </a:pPr>
            <a:r>
              <a:rPr lang="en-US" sz="35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Screen Layout &amp; Game Components</a:t>
            </a:r>
            <a:endParaRPr sz="3550" b="0" i="0" u="none" strike="noStrike" cap="none"/>
          </a:p>
        </p:txBody>
      </p:sp>
      <p:pic>
        <p:nvPicPr>
          <p:cNvPr id="89" name="Google Shape;89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3472577"/>
            <a:ext cx="1205984" cy="1507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>
            <a:off x="2283262" y="3472577"/>
            <a:ext cx="2669143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Left Paddle</a:t>
            </a:r>
            <a:endParaRPr sz="2200" b="0" i="0" u="none" strike="noStrike" cap="none"/>
          </a:p>
        </p:txBody>
      </p:sp>
      <p:sp>
        <p:nvSpPr>
          <p:cNvPr id="91" name="Google Shape;91;p16"/>
          <p:cNvSpPr/>
          <p:nvPr/>
        </p:nvSpPr>
        <p:spPr>
          <a:xfrm>
            <a:off x="2283262" y="3962995"/>
            <a:ext cx="2669143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Circular head + rectangular handle. Controlled by W / S. Movement clamped to 0..480 screen height.</a:t>
            </a:r>
            <a:endParaRPr sz="1750" b="0" i="0" u="none" strike="noStrike" cap="none"/>
          </a:p>
        </p:txBody>
      </p:sp>
      <p:pic>
        <p:nvPicPr>
          <p:cNvPr id="92" name="Google Shape;92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5893" y="3472577"/>
            <a:ext cx="1205984" cy="15074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6725364" y="3472577"/>
            <a:ext cx="2669143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Right Paddle</a:t>
            </a:r>
            <a:endParaRPr sz="2200" b="0" i="0" u="none" strike="noStrike" cap="none"/>
          </a:p>
        </p:txBody>
      </p:sp>
      <p:sp>
        <p:nvSpPr>
          <p:cNvPr id="94" name="Google Shape;94;p16"/>
          <p:cNvSpPr/>
          <p:nvPr/>
        </p:nvSpPr>
        <p:spPr>
          <a:xfrm>
            <a:off x="6725364" y="3962995"/>
            <a:ext cx="2669143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Same design; controlled by ↑ / ↓. Symmetric physics and collision bounds.</a:t>
            </a:r>
            <a:endParaRPr sz="1750" b="0" i="0" u="none" strike="noStrike" cap="none"/>
          </a:p>
        </p:txBody>
      </p:sp>
      <p:pic>
        <p:nvPicPr>
          <p:cNvPr id="95" name="Google Shape;95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77995" y="3472577"/>
            <a:ext cx="1205984" cy="1507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11167467" y="3472577"/>
            <a:ext cx="2669143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Ball</a:t>
            </a:r>
            <a:endParaRPr sz="2200" b="0" i="0" u="none" strike="noStrike" cap="none"/>
          </a:p>
        </p:txBody>
      </p:sp>
      <p:sp>
        <p:nvSpPr>
          <p:cNvPr id="97" name="Google Shape;97;p16"/>
          <p:cNvSpPr/>
          <p:nvPr/>
        </p:nvSpPr>
        <p:spPr>
          <a:xfrm>
            <a:off x="11167467" y="3962995"/>
            <a:ext cx="2669143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Radius considered in collision. Stores position, velocity (dx, dy) and speed scalar.</a:t>
            </a:r>
            <a:endParaRPr sz="1750" b="0" i="0" u="none" strike="noStrike" cap="non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DE2A48-71E0-10C1-01E4-057779C042C6}"/>
              </a:ext>
            </a:extLst>
          </p:cNvPr>
          <p:cNvSpPr/>
          <p:nvPr/>
        </p:nvSpPr>
        <p:spPr>
          <a:xfrm>
            <a:off x="12625330" y="7667740"/>
            <a:ext cx="2005070" cy="561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721043" y="525542"/>
            <a:ext cx="3822621" cy="47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nter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Program Structure</a:t>
            </a:r>
            <a:endParaRPr sz="3000" b="0" i="0" u="none" strike="noStrike" cap="none"/>
          </a:p>
        </p:txBody>
      </p:sp>
      <p:pic>
        <p:nvPicPr>
          <p:cNvPr id="104" name="Google Shape;104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043" y="1325404"/>
            <a:ext cx="13188196" cy="569654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3868098" y="5165577"/>
            <a:ext cx="1958204" cy="71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Create Window</a:t>
            </a:r>
            <a:endParaRPr sz="2200" b="0" i="0" u="none" strike="noStrike" cap="none"/>
          </a:p>
        </p:txBody>
      </p:sp>
      <p:sp>
        <p:nvSpPr>
          <p:cNvPr id="106" name="Google Shape;106;p17"/>
          <p:cNvSpPr/>
          <p:nvPr/>
        </p:nvSpPr>
        <p:spPr>
          <a:xfrm>
            <a:off x="3868098" y="5980323"/>
            <a:ext cx="1958204" cy="525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Create window and renderer</a:t>
            </a:r>
            <a:endParaRPr sz="1750" b="0" i="0" u="none" strike="noStrike" cap="none"/>
          </a:p>
        </p:txBody>
      </p:sp>
      <p:sp>
        <p:nvSpPr>
          <p:cNvPr id="107" name="Google Shape;107;p17"/>
          <p:cNvSpPr/>
          <p:nvPr/>
        </p:nvSpPr>
        <p:spPr>
          <a:xfrm>
            <a:off x="8896262" y="5165577"/>
            <a:ext cx="1958204" cy="71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Detect Collisions</a:t>
            </a:r>
            <a:endParaRPr sz="2200" b="0" i="0" u="none" strike="noStrike" cap="none"/>
          </a:p>
        </p:txBody>
      </p:sp>
      <p:sp>
        <p:nvSpPr>
          <p:cNvPr id="108" name="Google Shape;108;p17"/>
          <p:cNvSpPr/>
          <p:nvPr/>
        </p:nvSpPr>
        <p:spPr>
          <a:xfrm>
            <a:off x="8896262" y="5980323"/>
            <a:ext cx="1958204" cy="525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Resolve ball and paddle hits</a:t>
            </a:r>
            <a:endParaRPr sz="1750" b="0" i="0" u="none" strike="noStrike" cap="none"/>
          </a:p>
        </p:txBody>
      </p:sp>
      <p:sp>
        <p:nvSpPr>
          <p:cNvPr id="109" name="Google Shape;109;p17"/>
          <p:cNvSpPr/>
          <p:nvPr/>
        </p:nvSpPr>
        <p:spPr>
          <a:xfrm>
            <a:off x="1360257" y="1839424"/>
            <a:ext cx="1958204" cy="35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Initialize</a:t>
            </a:r>
            <a:endParaRPr sz="2200" b="0" i="0" u="none" strike="noStrike" cap="none"/>
          </a:p>
        </p:txBody>
      </p:sp>
      <p:sp>
        <p:nvSpPr>
          <p:cNvPr id="110" name="Google Shape;110;p17"/>
          <p:cNvSpPr/>
          <p:nvPr/>
        </p:nvSpPr>
        <p:spPr>
          <a:xfrm>
            <a:off x="1360257" y="2297520"/>
            <a:ext cx="1958204" cy="525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Set up SDL and subsystems</a:t>
            </a:r>
            <a:endParaRPr sz="1750" b="0" i="0" u="none" strike="noStrike" cap="none"/>
          </a:p>
        </p:txBody>
      </p:sp>
      <p:sp>
        <p:nvSpPr>
          <p:cNvPr id="111" name="Google Shape;111;p17"/>
          <p:cNvSpPr/>
          <p:nvPr/>
        </p:nvSpPr>
        <p:spPr>
          <a:xfrm>
            <a:off x="11329404" y="1839424"/>
            <a:ext cx="1958203" cy="35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Cleanup</a:t>
            </a:r>
            <a:endParaRPr sz="2200" b="0" i="0" u="none" strike="noStrike" cap="none"/>
          </a:p>
        </p:txBody>
      </p:sp>
      <p:sp>
        <p:nvSpPr>
          <p:cNvPr id="112" name="Google Shape;112;p17"/>
          <p:cNvSpPr/>
          <p:nvPr/>
        </p:nvSpPr>
        <p:spPr>
          <a:xfrm>
            <a:off x="11329404" y="2297520"/>
            <a:ext cx="1958203" cy="525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Free resources and quit SDL</a:t>
            </a:r>
            <a:endParaRPr sz="1750" b="0" i="0" u="none" strike="noStrike" cap="none"/>
          </a:p>
        </p:txBody>
      </p:sp>
      <p:sp>
        <p:nvSpPr>
          <p:cNvPr id="113" name="Google Shape;113;p17"/>
          <p:cNvSpPr/>
          <p:nvPr/>
        </p:nvSpPr>
        <p:spPr>
          <a:xfrm>
            <a:off x="6413387" y="1839424"/>
            <a:ext cx="1958204" cy="35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Main Loop</a:t>
            </a:r>
            <a:endParaRPr sz="2200" b="0" i="0" u="none" strike="noStrike" cap="none"/>
          </a:p>
        </p:txBody>
      </p:sp>
      <p:sp>
        <p:nvSpPr>
          <p:cNvPr id="114" name="Google Shape;114;p17"/>
          <p:cNvSpPr/>
          <p:nvPr/>
        </p:nvSpPr>
        <p:spPr>
          <a:xfrm>
            <a:off x="6413387" y="2297520"/>
            <a:ext cx="1958204" cy="525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Handle events, update, render</a:t>
            </a:r>
            <a:endParaRPr sz="1750" b="0" i="0" u="none" strike="noStrike" cap="none"/>
          </a:p>
        </p:txBody>
      </p:sp>
      <p:sp>
        <p:nvSpPr>
          <p:cNvPr id="115" name="Google Shape;115;p17"/>
          <p:cNvSpPr/>
          <p:nvPr/>
        </p:nvSpPr>
        <p:spPr>
          <a:xfrm>
            <a:off x="721043" y="7203043"/>
            <a:ext cx="13188196" cy="563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lang="en-US" sz="150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diagram shows the main lifecycle: setup, continuous loop with fixed timestep for updates, render, and graceful teardown. Use modular functions for clarity.</a:t>
            </a:r>
            <a:endParaRPr sz="1500" b="0" i="0" u="none" strike="noStrike" cap="non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0FAB67-4254-0EC5-7CFA-48E836F1873E}"/>
              </a:ext>
            </a:extLst>
          </p:cNvPr>
          <p:cNvSpPr/>
          <p:nvPr/>
        </p:nvSpPr>
        <p:spPr>
          <a:xfrm>
            <a:off x="12625330" y="7667740"/>
            <a:ext cx="2005070" cy="561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793790" y="1327904"/>
            <a:ext cx="4205168" cy="1133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Inter"/>
              <a:buNone/>
            </a:pPr>
            <a:r>
              <a:rPr lang="en-US" sz="35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Graphics Rendering</a:t>
            </a:r>
            <a:endParaRPr sz="3550" b="0" i="0" u="none" strike="noStrike" cap="none"/>
          </a:p>
        </p:txBody>
      </p:sp>
      <p:sp>
        <p:nvSpPr>
          <p:cNvPr id="122" name="Google Shape;122;p18"/>
          <p:cNvSpPr/>
          <p:nvPr/>
        </p:nvSpPr>
        <p:spPr>
          <a:xfrm>
            <a:off x="793790" y="283749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1133951" y="271700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Primitive Drawing</a:t>
            </a:r>
            <a:endParaRPr sz="2200" b="0" i="0" u="none" strike="noStrike" cap="none"/>
          </a:p>
        </p:txBody>
      </p:sp>
      <p:sp>
        <p:nvSpPr>
          <p:cNvPr id="124" name="Google Shape;124;p18"/>
          <p:cNvSpPr/>
          <p:nvPr/>
        </p:nvSpPr>
        <p:spPr>
          <a:xfrm>
            <a:off x="1133951" y="3298150"/>
            <a:ext cx="3865007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Custom filled-circle function using scanlines or midpoint algorithm; paddles built from circle + rect primitives.</a:t>
            </a:r>
            <a:endParaRPr sz="1750" b="0" i="0" u="none" strike="noStrike" cap="none"/>
          </a:p>
        </p:txBody>
      </p:sp>
      <p:sp>
        <p:nvSpPr>
          <p:cNvPr id="125" name="Google Shape;125;p18"/>
          <p:cNvSpPr/>
          <p:nvPr/>
        </p:nvSpPr>
        <p:spPr>
          <a:xfrm>
            <a:off x="793790" y="532388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1133951" y="52033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Frame Flow</a:t>
            </a:r>
            <a:endParaRPr sz="2200" b="0" i="0" u="none" strike="noStrike" cap="none"/>
          </a:p>
        </p:txBody>
      </p:sp>
      <p:sp>
        <p:nvSpPr>
          <p:cNvPr id="127" name="Google Shape;127;p18"/>
          <p:cNvSpPr/>
          <p:nvPr/>
        </p:nvSpPr>
        <p:spPr>
          <a:xfrm>
            <a:off x="1133951" y="5784532"/>
            <a:ext cx="3865007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Clear background → draw centre dashed line → draw paddles and ball → SDL_RenderPresent()</a:t>
            </a:r>
            <a:endParaRPr sz="1750" b="0" i="0" u="none" strike="noStrike" cap="none"/>
          </a:p>
        </p:txBody>
      </p:sp>
      <p:pic>
        <p:nvPicPr>
          <p:cNvPr id="128" name="Google Shape;128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9981" y="1012031"/>
            <a:ext cx="8284131" cy="462367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/>
          <p:nvPr/>
        </p:nvSpPr>
        <p:spPr>
          <a:xfrm>
            <a:off x="5559981" y="5890855"/>
            <a:ext cx="8284131" cy="1326713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86795" y="6234946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/>
          <p:nvPr/>
        </p:nvSpPr>
        <p:spPr>
          <a:xfrm>
            <a:off x="6297097" y="6174343"/>
            <a:ext cx="732020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Keep renderer in accelerated mode and use vsync for stable frame pacing during demos.</a:t>
            </a:r>
            <a:endParaRPr sz="1750" b="0" i="0" u="none" strike="noStrike" cap="non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6AF916-8205-5859-6A08-9C4768500EA0}"/>
              </a:ext>
            </a:extLst>
          </p:cNvPr>
          <p:cNvSpPr/>
          <p:nvPr/>
        </p:nvSpPr>
        <p:spPr>
          <a:xfrm>
            <a:off x="12625330" y="7667740"/>
            <a:ext cx="2005070" cy="561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/>
          <p:nvPr/>
        </p:nvSpPr>
        <p:spPr>
          <a:xfrm>
            <a:off x="793790" y="1380411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Inter"/>
              <a:buNone/>
            </a:pPr>
            <a:r>
              <a:rPr lang="en-US" sz="35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 Controls</a:t>
            </a:r>
            <a:endParaRPr sz="3550" b="0" i="0" u="none" strike="noStrike" cap="none"/>
          </a:p>
        </p:txBody>
      </p:sp>
      <p:sp>
        <p:nvSpPr>
          <p:cNvPr id="139" name="Google Shape;139;p19"/>
          <p:cNvSpPr/>
          <p:nvPr/>
        </p:nvSpPr>
        <p:spPr>
          <a:xfrm>
            <a:off x="793790" y="25143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Left Player</a:t>
            </a:r>
            <a:endParaRPr sz="2200" b="0" i="0" u="none" strike="noStrike" cap="none"/>
          </a:p>
        </p:txBody>
      </p:sp>
      <p:sp>
        <p:nvSpPr>
          <p:cNvPr id="140" name="Google Shape;140;p19"/>
          <p:cNvSpPr/>
          <p:nvPr/>
        </p:nvSpPr>
        <p:spPr>
          <a:xfrm>
            <a:off x="793790" y="3095506"/>
            <a:ext cx="3501509" cy="805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W:</a:t>
            </a: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Move paddle up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S:</a:t>
            </a: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Move paddle down</a:t>
            </a:r>
            <a:endParaRPr sz="1750" b="0" i="0" u="none" strike="noStrike" cap="none"/>
          </a:p>
        </p:txBody>
      </p:sp>
      <p:sp>
        <p:nvSpPr>
          <p:cNvPr id="141" name="Google Shape;141;p19"/>
          <p:cNvSpPr/>
          <p:nvPr/>
        </p:nvSpPr>
        <p:spPr>
          <a:xfrm>
            <a:off x="793790" y="412742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Right Player</a:t>
            </a:r>
            <a:endParaRPr sz="2200" b="0" i="0" u="none" strike="noStrike" cap="none"/>
          </a:p>
        </p:txBody>
      </p:sp>
      <p:sp>
        <p:nvSpPr>
          <p:cNvPr id="142" name="Google Shape;142;p19"/>
          <p:cNvSpPr/>
          <p:nvPr/>
        </p:nvSpPr>
        <p:spPr>
          <a:xfrm>
            <a:off x="793790" y="4708565"/>
            <a:ext cx="3501509" cy="1168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Up Arrow:</a:t>
            </a: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Move paddle up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Down Arrow:</a:t>
            </a: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Move paddle down</a:t>
            </a:r>
            <a:endParaRPr sz="1750" b="0" i="0" u="none" strike="noStrike" cap="none"/>
          </a:p>
        </p:txBody>
      </p:sp>
      <p:sp>
        <p:nvSpPr>
          <p:cNvPr id="143" name="Google Shape;143;p19"/>
          <p:cNvSpPr/>
          <p:nvPr/>
        </p:nvSpPr>
        <p:spPr>
          <a:xfrm>
            <a:off x="4856321" y="25143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 Controls</a:t>
            </a:r>
            <a:endParaRPr sz="2200" b="0" i="0" u="none" strike="noStrike" cap="none"/>
          </a:p>
        </p:txBody>
      </p:sp>
      <p:sp>
        <p:nvSpPr>
          <p:cNvPr id="144" name="Google Shape;144;p19"/>
          <p:cNvSpPr/>
          <p:nvPr/>
        </p:nvSpPr>
        <p:spPr>
          <a:xfrm>
            <a:off x="4856321" y="3095506"/>
            <a:ext cx="3501509" cy="189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ESC:</a:t>
            </a: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Exit game</a:t>
            </a:r>
            <a:endParaRPr sz="1750" b="0" i="0" u="none" strike="noStrike" cap="none"/>
          </a:p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Continuous keyboard state read via SDL_GetKeyboardState for smooth motion</a:t>
            </a:r>
            <a:endParaRPr sz="1750" b="0" i="0" u="none" strike="noStrike" cap="none"/>
          </a:p>
        </p:txBody>
      </p:sp>
      <p:sp>
        <p:nvSpPr>
          <p:cNvPr id="145" name="Google Shape;145;p19"/>
          <p:cNvSpPr/>
          <p:nvPr/>
        </p:nvSpPr>
        <p:spPr>
          <a:xfrm>
            <a:off x="4856321" y="5193387"/>
            <a:ext cx="3501509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Input handling uses event polling for discrete events and state queries for continuous movement.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/>
          <p:nvPr/>
        </p:nvSpPr>
        <p:spPr>
          <a:xfrm>
            <a:off x="793790" y="1085017"/>
            <a:ext cx="7298293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Inter"/>
              <a:buNone/>
            </a:pPr>
            <a:r>
              <a:rPr lang="en-US" sz="35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 Logic &amp; Collision Detection</a:t>
            </a:r>
            <a:endParaRPr sz="3550" b="0" i="0" u="none" strike="noStrike" cap="none"/>
          </a:p>
        </p:txBody>
      </p:sp>
      <p:sp>
        <p:nvSpPr>
          <p:cNvPr id="152" name="Google Shape;152;p20"/>
          <p:cNvSpPr/>
          <p:nvPr/>
        </p:nvSpPr>
        <p:spPr>
          <a:xfrm>
            <a:off x="793790" y="2105620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750" b="0" i="0" u="none" strike="noStrike" cap="none"/>
          </a:p>
        </p:txBody>
      </p:sp>
      <p:sp>
        <p:nvSpPr>
          <p:cNvPr id="153" name="Google Shape;153;p20"/>
          <p:cNvSpPr/>
          <p:nvPr/>
        </p:nvSpPr>
        <p:spPr>
          <a:xfrm>
            <a:off x="793790" y="2460665"/>
            <a:ext cx="6407944" cy="3048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793790" y="263497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Ball Movement</a:t>
            </a:r>
            <a:endParaRPr sz="2200" b="0" i="0" u="none" strike="noStrike" cap="none"/>
          </a:p>
        </p:txBody>
      </p:sp>
      <p:sp>
        <p:nvSpPr>
          <p:cNvPr id="155" name="Google Shape;155;p20"/>
          <p:cNvSpPr/>
          <p:nvPr/>
        </p:nvSpPr>
        <p:spPr>
          <a:xfrm>
            <a:off x="793790" y="3125391"/>
            <a:ext cx="6407944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Position updated: x += dx * dt, y += dy * dt. Speed scalar applied to dx/dy for easy difficulty tuning.</a:t>
            </a:r>
            <a:endParaRPr sz="1750" b="0" i="0" u="none" strike="noStrike" cap="none"/>
          </a:p>
        </p:txBody>
      </p:sp>
      <p:sp>
        <p:nvSpPr>
          <p:cNvPr id="156" name="Google Shape;156;p20"/>
          <p:cNvSpPr/>
          <p:nvPr/>
        </p:nvSpPr>
        <p:spPr>
          <a:xfrm>
            <a:off x="7428548" y="2105620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750" b="0" i="0" u="none" strike="noStrike" cap="none"/>
          </a:p>
        </p:txBody>
      </p:sp>
      <p:sp>
        <p:nvSpPr>
          <p:cNvPr id="157" name="Google Shape;157;p20"/>
          <p:cNvSpPr/>
          <p:nvPr/>
        </p:nvSpPr>
        <p:spPr>
          <a:xfrm>
            <a:off x="7428548" y="2460665"/>
            <a:ext cx="6408063" cy="3048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7428548" y="263497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Wall Collisions</a:t>
            </a:r>
            <a:endParaRPr sz="2200" b="0" i="0" u="none" strike="noStrike" cap="none"/>
          </a:p>
        </p:txBody>
      </p:sp>
      <p:sp>
        <p:nvSpPr>
          <p:cNvPr id="159" name="Google Shape;159;p20"/>
          <p:cNvSpPr/>
          <p:nvPr/>
        </p:nvSpPr>
        <p:spPr>
          <a:xfrm>
            <a:off x="7428548" y="3125391"/>
            <a:ext cx="6408063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Top/bottom bounce: invert dy when ball.y - radius ≤ 0 or ball.y + radius ≥ screen_height.</a:t>
            </a:r>
            <a:endParaRPr sz="1750" b="0" i="0" u="none" strike="noStrike" cap="none"/>
          </a:p>
        </p:txBody>
      </p:sp>
      <p:sp>
        <p:nvSpPr>
          <p:cNvPr id="160" name="Google Shape;160;p20"/>
          <p:cNvSpPr/>
          <p:nvPr/>
        </p:nvSpPr>
        <p:spPr>
          <a:xfrm>
            <a:off x="793790" y="4248031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750" b="0" i="0" u="none" strike="noStrike" cap="none"/>
          </a:p>
        </p:txBody>
      </p:sp>
      <p:sp>
        <p:nvSpPr>
          <p:cNvPr id="161" name="Google Shape;161;p20"/>
          <p:cNvSpPr/>
          <p:nvPr/>
        </p:nvSpPr>
        <p:spPr>
          <a:xfrm>
            <a:off x="793790" y="4603075"/>
            <a:ext cx="6407944" cy="3048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793790" y="477738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Paddle Collisions</a:t>
            </a:r>
            <a:endParaRPr sz="2200" b="0" i="0" u="none" strike="noStrike" cap="none"/>
          </a:p>
        </p:txBody>
      </p:sp>
      <p:sp>
        <p:nvSpPr>
          <p:cNvPr id="163" name="Google Shape;163;p20"/>
          <p:cNvSpPr/>
          <p:nvPr/>
        </p:nvSpPr>
        <p:spPr>
          <a:xfrm>
            <a:off x="793790" y="5267801"/>
            <a:ext cx="6407944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Check overlap against paddle circle head and rectangular handle. On collision: invert dx and optionally adjust dy based on hit offset.</a:t>
            </a:r>
            <a:endParaRPr sz="1750" b="0" i="0" u="none" strike="noStrike" cap="none"/>
          </a:p>
        </p:txBody>
      </p:sp>
      <p:sp>
        <p:nvSpPr>
          <p:cNvPr id="164" name="Google Shape;164;p20"/>
          <p:cNvSpPr/>
          <p:nvPr/>
        </p:nvSpPr>
        <p:spPr>
          <a:xfrm>
            <a:off x="7428548" y="4248031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1750" b="0" i="0" u="none" strike="noStrike" cap="none"/>
          </a:p>
        </p:txBody>
      </p:sp>
      <p:sp>
        <p:nvSpPr>
          <p:cNvPr id="165" name="Google Shape;165;p20"/>
          <p:cNvSpPr/>
          <p:nvPr/>
        </p:nvSpPr>
        <p:spPr>
          <a:xfrm>
            <a:off x="7428548" y="4603075"/>
            <a:ext cx="6408063" cy="3048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7428548" y="477738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Miss &amp; Reset</a:t>
            </a:r>
            <a:endParaRPr sz="2200" b="0" i="0" u="none" strike="noStrike" cap="none"/>
          </a:p>
        </p:txBody>
      </p:sp>
      <p:sp>
        <p:nvSpPr>
          <p:cNvPr id="167" name="Google Shape;167;p20"/>
          <p:cNvSpPr/>
          <p:nvPr/>
        </p:nvSpPr>
        <p:spPr>
          <a:xfrm>
            <a:off x="7428548" y="5267801"/>
            <a:ext cx="6408063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If ball.x ± radius passes left/right bounds, increment score, reset ball to centre with initial velocity towards scorer.</a:t>
            </a:r>
            <a:endParaRPr sz="1750" b="0" i="0" u="none" strike="noStrike" cap="none"/>
          </a:p>
        </p:txBody>
      </p:sp>
      <p:sp>
        <p:nvSpPr>
          <p:cNvPr id="168" name="Google Shape;168;p20"/>
          <p:cNvSpPr/>
          <p:nvPr/>
        </p:nvSpPr>
        <p:spPr>
          <a:xfrm>
            <a:off x="793790" y="678168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Consider ball radius in all checks and clamp paddle positions to prevent sinking off-screen.</a:t>
            </a:r>
            <a:endParaRPr sz="1750" b="0" i="0" u="none" strike="noStrike" cap="non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5DF389-D067-3E4D-0CDE-F6760E440A79}"/>
              </a:ext>
            </a:extLst>
          </p:cNvPr>
          <p:cNvSpPr/>
          <p:nvPr/>
        </p:nvSpPr>
        <p:spPr>
          <a:xfrm>
            <a:off x="12625330" y="7667740"/>
            <a:ext cx="2005070" cy="561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/>
          <p:nvPr/>
        </p:nvSpPr>
        <p:spPr>
          <a:xfrm>
            <a:off x="703898" y="1247537"/>
            <a:ext cx="4022527" cy="502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Inter"/>
              <a:buNone/>
            </a:pPr>
            <a:r>
              <a:rPr lang="en-US" sz="31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Educational Value</a:t>
            </a:r>
            <a:endParaRPr sz="3150" b="0" i="0" u="none" strike="noStrike" cap="none"/>
          </a:p>
        </p:txBody>
      </p:sp>
      <p:sp>
        <p:nvSpPr>
          <p:cNvPr id="175" name="Google Shape;175;p21"/>
          <p:cNvSpPr/>
          <p:nvPr/>
        </p:nvSpPr>
        <p:spPr>
          <a:xfrm>
            <a:off x="703898" y="1928574"/>
            <a:ext cx="4308991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Demonstrates real-time programming and fixed/variable timestep trade-offs.</a:t>
            </a:r>
            <a:endParaRPr sz="1550" b="0" i="0" u="none" strike="noStrike" cap="none"/>
          </a:p>
          <a:p>
            <a:pPr marL="342900" marR="0" lvl="0" indent="-342900" algn="l" rtl="0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Introduces basic collision geometry and mitigation of tunnelling (simple fixes like conservative step or radius checks).</a:t>
            </a:r>
            <a:endParaRPr sz="1550" b="0" i="0" u="none" strike="noStrike" cap="none"/>
          </a:p>
          <a:p>
            <a:pPr marL="342900" marR="0" lvl="0" indent="-342900" algn="l" rtl="0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Reinforces modular C design: header files, clear function boundaries, resource lifecycle.</a:t>
            </a:r>
            <a:endParaRPr sz="1550" b="0" i="0" u="none" strike="noStrike" cap="none"/>
          </a:p>
        </p:txBody>
      </p:sp>
      <p:sp>
        <p:nvSpPr>
          <p:cNvPr id="176" name="Google Shape;176;p21"/>
          <p:cNvSpPr/>
          <p:nvPr/>
        </p:nvSpPr>
        <p:spPr>
          <a:xfrm>
            <a:off x="703898" y="4659511"/>
            <a:ext cx="251400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Inter"/>
              <a:buNone/>
            </a:pPr>
            <a:r>
              <a:rPr lang="en-US" sz="19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Future Scope</a:t>
            </a:r>
            <a:endParaRPr sz="1950" b="0" i="0" u="none" strike="noStrike" cap="none"/>
          </a:p>
        </p:txBody>
      </p:sp>
      <p:sp>
        <p:nvSpPr>
          <p:cNvPr id="177" name="Google Shape;177;p21"/>
          <p:cNvSpPr/>
          <p:nvPr/>
        </p:nvSpPr>
        <p:spPr>
          <a:xfrm>
            <a:off x="703898" y="5152072"/>
            <a:ext cx="4308991" cy="19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Score system, HUD and persistent high-scores</a:t>
            </a:r>
            <a:endParaRPr sz="1550" b="0" i="0" u="none" strike="noStrike" cap="none"/>
          </a:p>
          <a:p>
            <a:pPr marL="342900" marR="0" lvl="0" indent="-342900" algn="l" rtl="0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Sound via SDL_mixer, AI opponent with simple state machine</a:t>
            </a:r>
            <a:endParaRPr sz="1550" b="0" i="0" u="none" strike="noStrike" cap="none"/>
          </a:p>
          <a:p>
            <a:pPr marL="342900" marR="0" lvl="0" indent="-342900" algn="l" rtl="0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Network multiplayer or OpenGL-based enhanced rendering</a:t>
            </a:r>
            <a:endParaRPr sz="1550" b="0" i="0" u="none" strike="noStrike" cap="none"/>
          </a:p>
        </p:txBody>
      </p:sp>
      <p:pic>
        <p:nvPicPr>
          <p:cNvPr id="178" name="Google Shape;178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1046" y="1115616"/>
            <a:ext cx="8422958" cy="470118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/>
          <p:nvPr/>
        </p:nvSpPr>
        <p:spPr>
          <a:xfrm>
            <a:off x="5511046" y="6017419"/>
            <a:ext cx="8422958" cy="1096447"/>
          </a:xfrm>
          <a:prstGeom prst="roundRect">
            <a:avLst>
              <a:gd name="adj" fmla="val 7704"/>
            </a:avLst>
          </a:prstGeom>
          <a:solidFill>
            <a:srgbClr val="C7C9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" name="Google Shape;180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2143" y="6313765"/>
            <a:ext cx="251341" cy="20109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/>
          <p:nvPr/>
        </p:nvSpPr>
        <p:spPr>
          <a:xfrm>
            <a:off x="6164580" y="6245900"/>
            <a:ext cx="7568327" cy="60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Project is an excellent classroom demo: compact codebase, visible behaviour, and many extension opportunities for assignments.</a:t>
            </a:r>
            <a:endParaRPr sz="1550" b="0" i="0" u="none" strike="noStrike" cap="non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DC59E7-D56E-4404-2CEC-8ED49B31B7DC}"/>
              </a:ext>
            </a:extLst>
          </p:cNvPr>
          <p:cNvSpPr/>
          <p:nvPr/>
        </p:nvSpPr>
        <p:spPr>
          <a:xfrm>
            <a:off x="12625330" y="7667740"/>
            <a:ext cx="2005070" cy="561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/>
          <p:nvPr/>
        </p:nvSpPr>
        <p:spPr>
          <a:xfrm>
            <a:off x="793790" y="895945"/>
            <a:ext cx="5443299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Inter"/>
              <a:buNone/>
            </a:pPr>
            <a:r>
              <a:rPr lang="en-US" sz="35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Conclusion &amp; Next Steps</a:t>
            </a:r>
            <a:endParaRPr sz="3550" b="0" i="0" u="none" strike="noStrike" cap="none"/>
          </a:p>
        </p:txBody>
      </p:sp>
      <p:sp>
        <p:nvSpPr>
          <p:cNvPr id="189" name="Google Shape;189;p22"/>
          <p:cNvSpPr/>
          <p:nvPr/>
        </p:nvSpPr>
        <p:spPr>
          <a:xfrm>
            <a:off x="793790" y="2143244"/>
            <a:ext cx="2367558" cy="4209336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793790" y="2112764"/>
            <a:ext cx="23675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1637288" y="180308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1841361" y="1973223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100" b="0" i="0" u="none" strike="noStrike" cap="none"/>
          </a:p>
        </p:txBody>
      </p:sp>
      <p:sp>
        <p:nvSpPr>
          <p:cNvPr id="193" name="Google Shape;193;p22"/>
          <p:cNvSpPr/>
          <p:nvPr/>
        </p:nvSpPr>
        <p:spPr>
          <a:xfrm>
            <a:off x="1051084" y="2710220"/>
            <a:ext cx="1852970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Achievement</a:t>
            </a:r>
            <a:endParaRPr sz="2200" b="0" i="0" u="none" strike="noStrike" cap="none"/>
          </a:p>
        </p:txBody>
      </p:sp>
      <p:sp>
        <p:nvSpPr>
          <p:cNvPr id="194" name="Google Shape;194;p22"/>
          <p:cNvSpPr/>
          <p:nvPr/>
        </p:nvSpPr>
        <p:spPr>
          <a:xfrm>
            <a:off x="1051084" y="3200638"/>
            <a:ext cx="1852970" cy="254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Working 2-player Pong in C with SDL: rendering, input, collisions and stable loop implemented.</a:t>
            </a:r>
            <a:endParaRPr sz="1750" b="0" i="0" u="none" strike="noStrike" cap="none"/>
          </a:p>
        </p:txBody>
      </p:sp>
      <p:sp>
        <p:nvSpPr>
          <p:cNvPr id="195" name="Google Shape;195;p22"/>
          <p:cNvSpPr/>
          <p:nvPr/>
        </p:nvSpPr>
        <p:spPr>
          <a:xfrm>
            <a:off x="3388162" y="2143244"/>
            <a:ext cx="2367558" cy="4209336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3388162" y="2112764"/>
            <a:ext cx="23675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4231660" y="180308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4435733" y="1973223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2100" b="0" i="0" u="none" strike="noStrike" cap="none"/>
          </a:p>
        </p:txBody>
      </p:sp>
      <p:sp>
        <p:nvSpPr>
          <p:cNvPr id="199" name="Google Shape;199;p22"/>
          <p:cNvSpPr/>
          <p:nvPr/>
        </p:nvSpPr>
        <p:spPr>
          <a:xfrm>
            <a:off x="3645456" y="2710220"/>
            <a:ext cx="1852970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 sz="2200" b="0" i="0" u="none" strike="noStrike" cap="none"/>
          </a:p>
        </p:txBody>
      </p:sp>
      <p:sp>
        <p:nvSpPr>
          <p:cNvPr id="200" name="Google Shape;200;p22"/>
          <p:cNvSpPr/>
          <p:nvPr/>
        </p:nvSpPr>
        <p:spPr>
          <a:xfrm>
            <a:off x="3645456" y="3554968"/>
            <a:ext cx="1852970" cy="254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loops, primitive rendering, and collision maths are foundational for interactive systems.</a:t>
            </a:r>
            <a:endParaRPr sz="1750" b="0" i="0" u="none" strike="noStrike" cap="none"/>
          </a:p>
        </p:txBody>
      </p:sp>
      <p:sp>
        <p:nvSpPr>
          <p:cNvPr id="201" name="Google Shape;201;p22"/>
          <p:cNvSpPr/>
          <p:nvPr/>
        </p:nvSpPr>
        <p:spPr>
          <a:xfrm>
            <a:off x="5982533" y="2143244"/>
            <a:ext cx="2367558" cy="4209336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5982533" y="2112764"/>
            <a:ext cx="23675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6826032" y="180308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7030105" y="1973223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2100" b="0" i="0" u="none" strike="noStrike" cap="none"/>
          </a:p>
        </p:txBody>
      </p:sp>
      <p:sp>
        <p:nvSpPr>
          <p:cNvPr id="205" name="Google Shape;205;p22"/>
          <p:cNvSpPr/>
          <p:nvPr/>
        </p:nvSpPr>
        <p:spPr>
          <a:xfrm>
            <a:off x="6239828" y="2710220"/>
            <a:ext cx="1852970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Action Items</a:t>
            </a:r>
            <a:endParaRPr sz="2200" b="0" i="0" u="none" strike="noStrike" cap="none"/>
          </a:p>
        </p:txBody>
      </p:sp>
      <p:sp>
        <p:nvSpPr>
          <p:cNvPr id="206" name="Google Shape;206;p22"/>
          <p:cNvSpPr/>
          <p:nvPr/>
        </p:nvSpPr>
        <p:spPr>
          <a:xfrm>
            <a:off x="6239828" y="3200638"/>
            <a:ext cx="1852970" cy="254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Add scoring, sound, AI and network play. Refactor for testability and performance profiling.</a:t>
            </a:r>
            <a:endParaRPr sz="1750" b="0" i="0" u="none" strike="noStrike" cap="none"/>
          </a:p>
        </p:txBody>
      </p:sp>
      <p:sp>
        <p:nvSpPr>
          <p:cNvPr id="207" name="Google Shape;207;p22"/>
          <p:cNvSpPr/>
          <p:nvPr/>
        </p:nvSpPr>
        <p:spPr>
          <a:xfrm>
            <a:off x="793790" y="6607731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Team: Sachin Kumar; Khushi Agrawal; Akshita Kamath; Anay Rudrawar; Akshat Agrawal; Nirjar Oza — ready to demo and extend.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FE6051-DBE4-3C39-BE26-CF4AD7788986}"/>
              </a:ext>
            </a:extLst>
          </p:cNvPr>
          <p:cNvSpPr txBox="1"/>
          <p:nvPr/>
        </p:nvSpPr>
        <p:spPr>
          <a:xfrm>
            <a:off x="3017520" y="1188720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OUR TEAM MEMBER</a:t>
            </a:r>
            <a:endParaRPr lang="en-IN" sz="6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28C02B-4A8D-D71E-BCC9-86EA97E685F7}"/>
              </a:ext>
            </a:extLst>
          </p:cNvPr>
          <p:cNvSpPr txBox="1"/>
          <p:nvPr/>
        </p:nvSpPr>
        <p:spPr>
          <a:xfrm>
            <a:off x="1543050" y="3040380"/>
            <a:ext cx="60007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1.Sachine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kumar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(1262253593)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2.Akshita Kamath(1262253339)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3.Akshat Aggarwal(1262253946)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4.Khushi Agrawal(1262252749)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5.Nirjar Oza(1262251345)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6.Anay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Rudrawar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(1262252029)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831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</TotalTime>
  <Words>782</Words>
  <Application>Microsoft Office PowerPoint</Application>
  <PresentationFormat>Custom</PresentationFormat>
  <Paragraphs>101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Khushi Agrawal</cp:lastModifiedBy>
  <cp:revision>4</cp:revision>
  <dcterms:modified xsi:type="dcterms:W3CDTF">2026-03-26T06:46:59Z</dcterms:modified>
</cp:coreProperties>
</file>